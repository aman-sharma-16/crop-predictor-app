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handoutMasterIdLst>
    <p:handoutMasterId r:id="rId15"/>
  </p:handoutMasterIdLst>
  <p:sldIdLst>
    <p:sldId id="257" r:id="rId5"/>
    <p:sldId id="287" r:id="rId6"/>
    <p:sldId id="289" r:id="rId7"/>
    <p:sldId id="291" r:id="rId8"/>
    <p:sldId id="292" r:id="rId9"/>
    <p:sldId id="294" r:id="rId10"/>
    <p:sldId id="295" r:id="rId11"/>
    <p:sldId id="297" r:id="rId12"/>
    <p:sldId id="298" r:id="rId1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07B95D-9439-A287-C5E7-B2135821E8F2}" v="935" dt="2025-08-28T16:03:23.143"/>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16" autoAdjust="0"/>
    <p:restoredTop sz="94879" autoAdjust="0"/>
  </p:normalViewPr>
  <p:slideViewPr>
    <p:cSldViewPr showGuides="1">
      <p:cViewPr>
        <p:scale>
          <a:sx n="100" d="100"/>
          <a:sy n="100" d="100"/>
        </p:scale>
        <p:origin x="2496" y="1212"/>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8/28/2025</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8/28/2025</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dirty="0"/>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dirty="0"/>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dirty="0"/>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dirty="0"/>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dirty="0"/>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dirty="0"/>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dirty="0"/>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dirty="0"/>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944253" y="556928"/>
            <a:ext cx="10287000" cy="660750"/>
          </a:xfrm>
        </p:spPr>
        <p:txBody>
          <a:bodyPr anchor="b">
            <a:normAutofit fontScale="90000"/>
          </a:bodyPr>
          <a:lstStyle/>
          <a:p>
            <a:r>
              <a:rPr lang="en-US" sz="2800" dirty="0">
                <a:latin typeface="Cambria Math"/>
                <a:ea typeface="Calibri"/>
                <a:cs typeface="Calibri"/>
              </a:rPr>
              <a:t>                     Department of Computer Science and Engineering </a:t>
            </a:r>
            <a:br>
              <a:rPr lang="en-US" sz="2800" dirty="0">
                <a:latin typeface="Cambria Math"/>
                <a:ea typeface="Calibri"/>
                <a:cs typeface="Calibri"/>
              </a:rPr>
            </a:br>
            <a:r>
              <a:rPr lang="en-US" sz="2800" dirty="0">
                <a:latin typeface="Cambria Math"/>
                <a:ea typeface="Calibri"/>
                <a:cs typeface="Calibri"/>
              </a:rPr>
              <a:t>                                                 IIT KHARAGPUR</a:t>
            </a:r>
          </a:p>
        </p:txBody>
      </p:sp>
      <p:sp>
        <p:nvSpPr>
          <p:cNvPr id="3" name="Content Placeholder 2"/>
          <p:cNvSpPr>
            <a:spLocks noGrp="1"/>
          </p:cNvSpPr>
          <p:nvPr>
            <p:ph type="body" sz="quarter" idx="10"/>
          </p:nvPr>
        </p:nvSpPr>
        <p:spPr>
          <a:xfrm>
            <a:off x="684212" y="1394043"/>
            <a:ext cx="10287000" cy="4740057"/>
          </a:xfrm>
        </p:spPr>
        <p:txBody>
          <a:bodyPr>
            <a:normAutofit/>
          </a:bodyPr>
          <a:lstStyle/>
          <a:p>
            <a:r>
              <a:rPr lang="en-US" dirty="0">
                <a:latin typeface="Cambria Math"/>
                <a:ea typeface="Cambria"/>
                <a:cs typeface="Courier New"/>
              </a:rPr>
              <a:t>                       </a:t>
            </a:r>
          </a:p>
          <a:p>
            <a:r>
              <a:rPr lang="en-US" dirty="0">
                <a:latin typeface="Cambria Math"/>
                <a:ea typeface="Cambria"/>
                <a:cs typeface="Courier New"/>
              </a:rPr>
              <a:t>                                            DATA ANALYTICS PROJECT                        </a:t>
            </a:r>
          </a:p>
          <a:p>
            <a:r>
              <a:rPr lang="en-US" dirty="0">
                <a:latin typeface="Cambria Math"/>
                <a:ea typeface="Cambria"/>
                <a:cs typeface="Courier New"/>
              </a:rPr>
              <a:t>             </a:t>
            </a:r>
            <a:r>
              <a:rPr lang="en-US" sz="3200" dirty="0">
                <a:latin typeface="Cambria Math"/>
                <a:ea typeface="Cambria"/>
                <a:cs typeface="Courier New"/>
              </a:rPr>
              <a:t>TOPIC – SMART RURAL FARMING ANALYTICS </a:t>
            </a:r>
          </a:p>
          <a:p>
            <a:r>
              <a:rPr lang="en-US" dirty="0">
                <a:latin typeface="Cambria Math"/>
                <a:ea typeface="Cambria"/>
                <a:cs typeface="Courier New"/>
              </a:rPr>
              <a:t>                                                </a:t>
            </a:r>
          </a:p>
          <a:p>
            <a:r>
              <a:rPr lang="en-US" dirty="0">
                <a:latin typeface="Cambria Math"/>
                <a:ea typeface="Cambria"/>
                <a:cs typeface="Courier New"/>
              </a:rPr>
              <a:t>                                           </a:t>
            </a:r>
            <a:r>
              <a:rPr lang="en-US" sz="2000" dirty="0">
                <a:latin typeface="Cambria Math"/>
                <a:ea typeface="Cambria"/>
                <a:cs typeface="Courier New"/>
              </a:rPr>
              <a:t>GROUP NUMBER – 15</a:t>
            </a:r>
            <a:endParaRPr lang="en-US" dirty="0"/>
          </a:p>
          <a:p>
            <a:r>
              <a:rPr lang="en-US" sz="2000" dirty="0">
                <a:latin typeface="Cambria Math"/>
                <a:ea typeface="Cambria"/>
                <a:cs typeface="Courier New"/>
              </a:rPr>
              <a:t>                                                    AMAN SHARMA (25CS60R330)</a:t>
            </a:r>
          </a:p>
          <a:p>
            <a:r>
              <a:rPr lang="en-US" sz="2000" dirty="0">
                <a:latin typeface="Cambria Math"/>
                <a:ea typeface="Cambria"/>
                <a:cs typeface="Courier New"/>
              </a:rPr>
              <a:t>                                                    RAHUL BASUMATARY (25CS60R13)</a:t>
            </a:r>
          </a:p>
          <a:p>
            <a:r>
              <a:rPr lang="en-US" sz="2000" dirty="0">
                <a:latin typeface="Cambria Math"/>
                <a:ea typeface="Cambria"/>
                <a:cs typeface="Courier New"/>
              </a:rPr>
              <a:t>                                                    ASHISH KUMAR (25CS60R81)</a:t>
            </a:r>
          </a:p>
        </p:txBody>
      </p:sp>
      <p:pic>
        <p:nvPicPr>
          <p:cNvPr id="2" name="Picture 1" descr="A logo of a book with a tree and text&#10;&#10;AI-generated content may be incorrect.">
            <a:extLst>
              <a:ext uri="{FF2B5EF4-FFF2-40B4-BE49-F238E27FC236}">
                <a16:creationId xmlns:a16="http://schemas.microsoft.com/office/drawing/2014/main" id="{F29BE1A6-EBC3-BFED-08AD-A811FB3A52F4}"/>
              </a:ext>
            </a:extLst>
          </p:cNvPr>
          <p:cNvPicPr>
            <a:picLocks noChangeAspect="1"/>
          </p:cNvPicPr>
          <p:nvPr/>
        </p:nvPicPr>
        <p:blipFill>
          <a:blip r:embed="rId3"/>
          <a:stretch>
            <a:fillRect/>
          </a:stretch>
        </p:blipFill>
        <p:spPr>
          <a:xfrm>
            <a:off x="9978021" y="1014015"/>
            <a:ext cx="1962360" cy="2192056"/>
          </a:xfrm>
          <a:prstGeom prst="rect">
            <a:avLst/>
          </a:prstGeom>
        </p:spPr>
      </p:pic>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E4435-AFE7-2475-A2B5-0D46B3F3CC95}"/>
              </a:ext>
            </a:extLst>
          </p:cNvPr>
          <p:cNvSpPr>
            <a:spLocks noGrp="1"/>
          </p:cNvSpPr>
          <p:nvPr>
            <p:ph type="title"/>
          </p:nvPr>
        </p:nvSpPr>
        <p:spPr>
          <a:xfrm>
            <a:off x="1304247" y="609600"/>
            <a:ext cx="9600501" cy="654486"/>
          </a:xfrm>
        </p:spPr>
        <p:txBody>
          <a:bodyPr>
            <a:normAutofit/>
          </a:bodyPr>
          <a:lstStyle/>
          <a:p>
            <a:r>
              <a:rPr lang="en-US" sz="3600">
                <a:latin typeface="Cambria Math"/>
                <a:ea typeface="Calibri"/>
                <a:cs typeface="Courier New"/>
              </a:rPr>
              <a:t>            INTRODUCTION AND MOTIVATION</a:t>
            </a:r>
          </a:p>
        </p:txBody>
      </p:sp>
      <p:sp>
        <p:nvSpPr>
          <p:cNvPr id="3" name="Content Placeholder 2">
            <a:extLst>
              <a:ext uri="{FF2B5EF4-FFF2-40B4-BE49-F238E27FC236}">
                <a16:creationId xmlns:a16="http://schemas.microsoft.com/office/drawing/2014/main" id="{EBAD1063-90CC-C81E-61F4-A8F0EA539F3C}"/>
              </a:ext>
            </a:extLst>
          </p:cNvPr>
          <p:cNvSpPr>
            <a:spLocks noGrp="1"/>
          </p:cNvSpPr>
          <p:nvPr>
            <p:ph idx="1"/>
          </p:nvPr>
        </p:nvSpPr>
        <p:spPr>
          <a:xfrm>
            <a:off x="1290501" y="1771782"/>
            <a:ext cx="9601977" cy="5081391"/>
          </a:xfrm>
        </p:spPr>
        <p:txBody>
          <a:bodyPr vert="horz" lIns="91440" tIns="45720" rIns="91440" bIns="45720" rtlCol="0" anchor="t">
            <a:noAutofit/>
          </a:bodyPr>
          <a:lstStyle/>
          <a:p>
            <a:r>
              <a:rPr lang="en-US" sz="2000">
                <a:solidFill>
                  <a:srgbClr val="000000"/>
                </a:solidFill>
                <a:latin typeface="Cambria Math"/>
              </a:rPr>
              <a:t>Agriculture is the backbone of India, yet small and marginal farmers face several challenges due to unpredictable weather, fragmented soil knowledge, volatile crop prices, and lack of timely advice. </a:t>
            </a:r>
            <a:endParaRPr lang="en-US" sz="2000">
              <a:solidFill>
                <a:srgbClr val="262626"/>
              </a:solidFill>
              <a:latin typeface="Cambria Math"/>
            </a:endParaRPr>
          </a:p>
          <a:p>
            <a:r>
              <a:rPr lang="en-US" sz="2000">
                <a:solidFill>
                  <a:srgbClr val="000000"/>
                </a:solidFill>
                <a:latin typeface="Cambria Math"/>
              </a:rPr>
              <a:t>This project, </a:t>
            </a:r>
            <a:r>
              <a:rPr lang="en-US" sz="2000" b="1">
                <a:solidFill>
                  <a:srgbClr val="000000"/>
                </a:solidFill>
                <a:latin typeface="Cambria Math"/>
              </a:rPr>
              <a:t>Smart Rural Farming Analytics</a:t>
            </a:r>
            <a:r>
              <a:rPr lang="en-US" sz="2000">
                <a:solidFill>
                  <a:srgbClr val="000000"/>
                </a:solidFill>
                <a:latin typeface="Cambria Math"/>
              </a:rPr>
              <a:t>, aims to develop a </a:t>
            </a:r>
            <a:r>
              <a:rPr lang="en-US" sz="2000" b="1">
                <a:solidFill>
                  <a:srgbClr val="000000"/>
                </a:solidFill>
                <a:latin typeface="Cambria Math"/>
              </a:rPr>
              <a:t>data-driven decision support system (DSS)</a:t>
            </a:r>
            <a:r>
              <a:rPr lang="en-US" sz="2000">
                <a:solidFill>
                  <a:srgbClr val="000000"/>
                </a:solidFill>
                <a:latin typeface="Cambria Math"/>
              </a:rPr>
              <a:t> that integrates soil, weather, crop yield, and market price data to provide actionable insights for farmers. </a:t>
            </a:r>
            <a:endParaRPr lang="en-US" sz="2000">
              <a:solidFill>
                <a:srgbClr val="262626"/>
              </a:solidFill>
              <a:latin typeface="Cambria Math"/>
            </a:endParaRPr>
          </a:p>
          <a:p>
            <a:r>
              <a:rPr lang="en-US" sz="2000">
                <a:solidFill>
                  <a:srgbClr val="000000"/>
                </a:solidFill>
                <a:latin typeface="Cambria Math"/>
              </a:rPr>
              <a:t>The solution focuses on smallholder farmers in rural India, particularly in the North-East region, where access to digital tools and modern analytics is limited.</a:t>
            </a:r>
            <a:endParaRPr lang="en-US" sz="2000">
              <a:latin typeface="Cambria Math"/>
            </a:endParaRPr>
          </a:p>
        </p:txBody>
      </p:sp>
    </p:spTree>
    <p:extLst>
      <p:ext uri="{BB962C8B-B14F-4D97-AF65-F5344CB8AC3E}">
        <p14:creationId xmlns:p14="http://schemas.microsoft.com/office/powerpoint/2010/main" val="36469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69C5-87BF-562F-BFA5-F42F0C287F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B04B1-C77B-6944-322E-0798F8282585}"/>
              </a:ext>
            </a:extLst>
          </p:cNvPr>
          <p:cNvSpPr>
            <a:spLocks noGrp="1"/>
          </p:cNvSpPr>
          <p:nvPr>
            <p:ph type="title"/>
          </p:nvPr>
        </p:nvSpPr>
        <p:spPr>
          <a:xfrm>
            <a:off x="1304247" y="441786"/>
            <a:ext cx="9600501" cy="654486"/>
          </a:xfrm>
        </p:spPr>
        <p:txBody>
          <a:bodyPr>
            <a:normAutofit/>
          </a:bodyPr>
          <a:lstStyle/>
          <a:p>
            <a:r>
              <a:rPr lang="en-US" sz="3600">
                <a:latin typeface="Cambria Math"/>
                <a:ea typeface="Calibri"/>
                <a:cs typeface="Courier New"/>
              </a:rPr>
              <a:t>                       PROBLEM STATEMENT</a:t>
            </a:r>
          </a:p>
        </p:txBody>
      </p:sp>
      <p:sp>
        <p:nvSpPr>
          <p:cNvPr id="3" name="Content Placeholder 2">
            <a:extLst>
              <a:ext uri="{FF2B5EF4-FFF2-40B4-BE49-F238E27FC236}">
                <a16:creationId xmlns:a16="http://schemas.microsoft.com/office/drawing/2014/main" id="{14A97ACD-2343-095E-F5B8-68B8EFFF8521}"/>
              </a:ext>
            </a:extLst>
          </p:cNvPr>
          <p:cNvSpPr>
            <a:spLocks noGrp="1"/>
          </p:cNvSpPr>
          <p:nvPr>
            <p:ph idx="1"/>
          </p:nvPr>
        </p:nvSpPr>
        <p:spPr>
          <a:xfrm>
            <a:off x="1300839" y="1281620"/>
            <a:ext cx="9590795" cy="5271580"/>
          </a:xfrm>
        </p:spPr>
        <p:txBody>
          <a:bodyPr vert="horz" lIns="91440" tIns="45720" rIns="91440" bIns="45720" rtlCol="0" anchor="t">
            <a:noAutofit/>
          </a:bodyPr>
          <a:lstStyle/>
          <a:p>
            <a:r>
              <a:rPr lang="en-US" sz="2000">
                <a:latin typeface="Cambria Math"/>
              </a:rPr>
              <a:t>Farmers often rely on intuition or traditional practices for decision-making, which can lead to: </a:t>
            </a:r>
          </a:p>
          <a:p>
            <a:r>
              <a:rPr lang="en-US" sz="2000">
                <a:latin typeface="Cambria Math"/>
              </a:rPr>
              <a:t>- Suboptimal crop selection. </a:t>
            </a:r>
          </a:p>
          <a:p>
            <a:r>
              <a:rPr lang="en-US" sz="2000">
                <a:latin typeface="Cambria Math"/>
              </a:rPr>
              <a:t>- Poor yield due to mismatched soil and climate conditions. </a:t>
            </a:r>
          </a:p>
          <a:p>
            <a:r>
              <a:rPr lang="en-US" sz="2000">
                <a:latin typeface="Cambria Math"/>
              </a:rPr>
              <a:t>- Income instability due to fluctuating market prices. </a:t>
            </a:r>
          </a:p>
          <a:p>
            <a:r>
              <a:rPr lang="en-US" sz="2000">
                <a:latin typeface="Cambria Math"/>
              </a:rPr>
              <a:t>- Crop losses due to floods, droughts, and other climate-related risks.</a:t>
            </a:r>
          </a:p>
          <a:p>
            <a:r>
              <a:rPr lang="en-IN" sz="2000">
                <a:latin typeface="Cambria Math"/>
              </a:rPr>
              <a:t>Most available Agri-analytics platforms are </a:t>
            </a:r>
            <a:r>
              <a:rPr lang="en-IN" sz="2000" b="1">
                <a:latin typeface="Cambria Math"/>
              </a:rPr>
              <a:t>designed for large-scale farming</a:t>
            </a:r>
            <a:r>
              <a:rPr lang="en-IN" sz="2000">
                <a:latin typeface="Cambria Math"/>
              </a:rPr>
              <a:t> in developed regions, not for </a:t>
            </a:r>
            <a:r>
              <a:rPr lang="en-IN" sz="2000" b="1">
                <a:latin typeface="Cambria Math"/>
              </a:rPr>
              <a:t>small/marginal farmers</a:t>
            </a:r>
            <a:r>
              <a:rPr lang="en-IN" sz="2000">
                <a:latin typeface="Cambria Math"/>
              </a:rPr>
              <a:t> in India. This leaves a gap where </a:t>
            </a:r>
            <a:r>
              <a:rPr lang="en-IN" sz="2000" b="1">
                <a:latin typeface="Cambria Math"/>
              </a:rPr>
              <a:t>data-driven decision support systems for small farmers</a:t>
            </a:r>
            <a:r>
              <a:rPr lang="en-IN" sz="2000">
                <a:latin typeface="Cambria Math"/>
              </a:rPr>
              <a:t> are missing.                                                                                                    </a:t>
            </a:r>
            <a:r>
              <a:rPr lang="en-US" sz="2000">
                <a:latin typeface="Cambria Math"/>
              </a:rPr>
              <a:t>A unified data analytics platform can address these issues by providing </a:t>
            </a:r>
            <a:r>
              <a:rPr lang="en-US" sz="2000" b="1">
                <a:latin typeface="Cambria Math"/>
              </a:rPr>
              <a:t>scientific, data-backed recommendations</a:t>
            </a:r>
            <a:r>
              <a:rPr lang="en-US" sz="2000">
                <a:latin typeface="Cambria Math"/>
              </a:rPr>
              <a:t> tailored to the needs of rural farmers.</a:t>
            </a:r>
          </a:p>
        </p:txBody>
      </p:sp>
    </p:spTree>
    <p:extLst>
      <p:ext uri="{BB962C8B-B14F-4D97-AF65-F5344CB8AC3E}">
        <p14:creationId xmlns:p14="http://schemas.microsoft.com/office/powerpoint/2010/main" val="169865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7E2D4-841E-F742-61E2-473A337620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AD28E-D945-5BBA-A336-E9B218ED088B}"/>
              </a:ext>
            </a:extLst>
          </p:cNvPr>
          <p:cNvSpPr>
            <a:spLocks noGrp="1"/>
          </p:cNvSpPr>
          <p:nvPr>
            <p:ph type="title"/>
          </p:nvPr>
        </p:nvSpPr>
        <p:spPr>
          <a:xfrm>
            <a:off x="1304247" y="638320"/>
            <a:ext cx="9600501" cy="654486"/>
          </a:xfrm>
        </p:spPr>
        <p:txBody>
          <a:bodyPr>
            <a:normAutofit/>
          </a:bodyPr>
          <a:lstStyle/>
          <a:p>
            <a:r>
              <a:rPr lang="en-US" sz="3600">
                <a:latin typeface="Cambria Math"/>
                <a:ea typeface="Calibri"/>
                <a:cs typeface="Courier New"/>
              </a:rPr>
              <a:t>                            DATA SOURCES</a:t>
            </a:r>
          </a:p>
        </p:txBody>
      </p:sp>
      <p:sp>
        <p:nvSpPr>
          <p:cNvPr id="3" name="Content Placeholder 2">
            <a:extLst>
              <a:ext uri="{FF2B5EF4-FFF2-40B4-BE49-F238E27FC236}">
                <a16:creationId xmlns:a16="http://schemas.microsoft.com/office/drawing/2014/main" id="{06ADE073-3863-F85B-4B7A-20A39C253BFB}"/>
              </a:ext>
            </a:extLst>
          </p:cNvPr>
          <p:cNvSpPr>
            <a:spLocks noGrp="1"/>
          </p:cNvSpPr>
          <p:nvPr>
            <p:ph idx="1"/>
          </p:nvPr>
        </p:nvSpPr>
        <p:spPr>
          <a:xfrm>
            <a:off x="1300839" y="1716063"/>
            <a:ext cx="9601133" cy="4826793"/>
          </a:xfrm>
        </p:spPr>
        <p:txBody>
          <a:bodyPr vert="horz" lIns="91440" tIns="45720" rIns="91440" bIns="45720" rtlCol="0" anchor="t">
            <a:noAutofit/>
          </a:bodyPr>
          <a:lstStyle/>
          <a:p>
            <a:pPr marL="285750" indent="-285750">
              <a:buFont typeface="Symbol"/>
              <a:buChar char="•"/>
            </a:pPr>
            <a:r>
              <a:rPr lang="en-IN" sz="2000" b="1" dirty="0">
                <a:latin typeface="Cambria Math"/>
              </a:rPr>
              <a:t>Weather Data:</a:t>
            </a:r>
            <a:r>
              <a:rPr lang="en-IN" sz="2000" dirty="0">
                <a:latin typeface="Cambria Math"/>
              </a:rPr>
              <a:t> Rainfall, temperature, humidity (IMD, NASA POWER, or Kaggle datasets).</a:t>
            </a:r>
            <a:endParaRPr lang="en-US" sz="2000" dirty="0">
              <a:latin typeface="Cambria Math"/>
            </a:endParaRPr>
          </a:p>
          <a:p>
            <a:pPr marL="285750" indent="-285750">
              <a:buFont typeface="Symbol"/>
              <a:buChar char="•"/>
            </a:pPr>
            <a:r>
              <a:rPr lang="en-IN" sz="2000" b="1" dirty="0">
                <a:latin typeface="Cambria Math"/>
              </a:rPr>
              <a:t>Soil Data:</a:t>
            </a:r>
            <a:r>
              <a:rPr lang="en-IN" sz="2000" dirty="0">
                <a:latin typeface="Cambria Math"/>
              </a:rPr>
              <a:t> pH, nitrogen, phosphorus, potassium levels (ICAR, FAO soil databases).</a:t>
            </a:r>
            <a:endParaRPr lang="en-US" sz="2000" dirty="0">
              <a:latin typeface="Cambria Math"/>
            </a:endParaRPr>
          </a:p>
          <a:p>
            <a:pPr marL="285750" indent="-285750">
              <a:buFont typeface="Symbol"/>
              <a:buChar char="•"/>
            </a:pPr>
            <a:r>
              <a:rPr lang="en-IN" sz="2000" b="1" dirty="0">
                <a:latin typeface="Cambria Math"/>
              </a:rPr>
              <a:t>Crop Yield Data:</a:t>
            </a:r>
            <a:r>
              <a:rPr lang="en-IN" sz="2000" dirty="0">
                <a:latin typeface="Cambria Math"/>
              </a:rPr>
              <a:t> Govt. of India’s </a:t>
            </a:r>
            <a:r>
              <a:rPr lang="en-IN" sz="2000" i="1" dirty="0">
                <a:latin typeface="Cambria Math"/>
              </a:rPr>
              <a:t>Directorate of Economics &amp; Statistics</a:t>
            </a:r>
            <a:r>
              <a:rPr lang="en-IN" sz="2000" dirty="0">
                <a:latin typeface="Cambria Math"/>
              </a:rPr>
              <a:t> or FAOSTAT.</a:t>
            </a:r>
            <a:endParaRPr lang="en-US" sz="2000" dirty="0">
              <a:latin typeface="Cambria Math"/>
            </a:endParaRPr>
          </a:p>
          <a:p>
            <a:pPr marL="285750" indent="-285750">
              <a:buFont typeface="Symbol"/>
              <a:buChar char="•"/>
            </a:pPr>
            <a:r>
              <a:rPr lang="en-IN" sz="2000" b="1" dirty="0">
                <a:latin typeface="Cambria Math"/>
              </a:rPr>
              <a:t>Market Price Data:</a:t>
            </a:r>
            <a:r>
              <a:rPr lang="en-IN" sz="2000" dirty="0">
                <a:latin typeface="Cambria Math"/>
              </a:rPr>
              <a:t> </a:t>
            </a:r>
            <a:r>
              <a:rPr lang="en-IN" sz="2000" dirty="0" err="1">
                <a:latin typeface="Cambria Math"/>
              </a:rPr>
              <a:t>Agmarknet</a:t>
            </a:r>
            <a:r>
              <a:rPr lang="en-IN" sz="2000" dirty="0">
                <a:latin typeface="Cambria Math"/>
              </a:rPr>
              <a:t> (Govt. site for daily mandi prices).</a:t>
            </a:r>
            <a:endParaRPr lang="en-US" sz="2000" dirty="0">
              <a:latin typeface="Cambria Math"/>
            </a:endParaRPr>
          </a:p>
          <a:p>
            <a:pPr marL="285750" indent="-285750">
              <a:buFont typeface="Symbol"/>
              <a:buChar char="•"/>
            </a:pPr>
            <a:r>
              <a:rPr lang="en-IN" sz="2000" b="1" dirty="0">
                <a:latin typeface="Cambria Math"/>
              </a:rPr>
              <a:t>Agriculture Department (IIT KGP):</a:t>
            </a:r>
            <a:r>
              <a:rPr lang="en-IN" sz="2000" dirty="0">
                <a:latin typeface="Cambria Math"/>
              </a:rPr>
              <a:t> access to local datasets and surveys, </a:t>
            </a:r>
            <a:r>
              <a:rPr lang="en-US" sz="2000" dirty="0">
                <a:latin typeface="Cambria Math"/>
              </a:rPr>
              <a:t>soil test data, crop yield statistics, or experimental farm records.</a:t>
            </a:r>
          </a:p>
        </p:txBody>
      </p:sp>
    </p:spTree>
    <p:extLst>
      <p:ext uri="{BB962C8B-B14F-4D97-AF65-F5344CB8AC3E}">
        <p14:creationId xmlns:p14="http://schemas.microsoft.com/office/powerpoint/2010/main" val="3165627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219E3-799F-13AC-FFD0-A6E4A5E58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4FFCF-5CC2-609D-2518-16C61AD2C37D}"/>
              </a:ext>
            </a:extLst>
          </p:cNvPr>
          <p:cNvSpPr>
            <a:spLocks noGrp="1"/>
          </p:cNvSpPr>
          <p:nvPr>
            <p:ph type="title"/>
          </p:nvPr>
        </p:nvSpPr>
        <p:spPr>
          <a:xfrm>
            <a:off x="1304247" y="638320"/>
            <a:ext cx="9600501" cy="654486"/>
          </a:xfrm>
        </p:spPr>
        <p:txBody>
          <a:bodyPr>
            <a:normAutofit/>
          </a:bodyPr>
          <a:lstStyle/>
          <a:p>
            <a:r>
              <a:rPr lang="en-US" sz="3600">
                <a:latin typeface="Cambria Math"/>
                <a:ea typeface="Calibri"/>
                <a:cs typeface="Courier New"/>
              </a:rPr>
              <a:t>                      EXPECTED OUTCOMES</a:t>
            </a:r>
          </a:p>
        </p:txBody>
      </p:sp>
      <p:sp>
        <p:nvSpPr>
          <p:cNvPr id="3" name="Content Placeholder 2">
            <a:extLst>
              <a:ext uri="{FF2B5EF4-FFF2-40B4-BE49-F238E27FC236}">
                <a16:creationId xmlns:a16="http://schemas.microsoft.com/office/drawing/2014/main" id="{B2611817-0C97-B40E-975E-C04B6E8326F7}"/>
              </a:ext>
            </a:extLst>
          </p:cNvPr>
          <p:cNvSpPr>
            <a:spLocks noGrp="1"/>
          </p:cNvSpPr>
          <p:nvPr>
            <p:ph idx="1"/>
          </p:nvPr>
        </p:nvSpPr>
        <p:spPr>
          <a:xfrm>
            <a:off x="1300839" y="2005256"/>
            <a:ext cx="9601133" cy="4826793"/>
          </a:xfrm>
        </p:spPr>
        <p:txBody>
          <a:bodyPr vert="horz" lIns="91440" tIns="45720" rIns="91440" bIns="45720" rtlCol="0" anchor="t">
            <a:noAutofit/>
          </a:bodyPr>
          <a:lstStyle/>
          <a:p>
            <a:pPr>
              <a:buFont typeface="Symbol"/>
              <a:buChar char="•"/>
            </a:pPr>
            <a:r>
              <a:rPr lang="en-US" sz="2000">
                <a:latin typeface="Cambria Math"/>
              </a:rPr>
              <a:t>A structured dataset combining soil</a:t>
            </a:r>
            <a:r>
              <a:rPr lang="en-US" sz="2000" dirty="0">
                <a:latin typeface="Cambria Math"/>
              </a:rPr>
              <a:t>, </a:t>
            </a:r>
            <a:r>
              <a:rPr lang="en-US" sz="2000">
                <a:latin typeface="Cambria Math"/>
              </a:rPr>
              <a:t>weather</a:t>
            </a:r>
            <a:r>
              <a:rPr lang="en-US" sz="2000" dirty="0">
                <a:latin typeface="Cambria Math"/>
              </a:rPr>
              <a:t>, </a:t>
            </a:r>
            <a:r>
              <a:rPr lang="en-US" sz="2000">
                <a:latin typeface="Cambria Math"/>
              </a:rPr>
              <a:t>yield</a:t>
            </a:r>
            <a:r>
              <a:rPr lang="en-US" sz="2000" dirty="0">
                <a:latin typeface="Cambria Math"/>
              </a:rPr>
              <a:t>, </a:t>
            </a:r>
            <a:r>
              <a:rPr lang="en-US" sz="2000">
                <a:latin typeface="Cambria Math"/>
              </a:rPr>
              <a:t>and price information.</a:t>
            </a:r>
            <a:endParaRPr lang="en-IN" sz="2000">
              <a:latin typeface="Cambria Math"/>
            </a:endParaRPr>
          </a:p>
          <a:p>
            <a:pPr>
              <a:buFont typeface="Symbol"/>
              <a:buChar char="•"/>
            </a:pPr>
            <a:r>
              <a:rPr lang="en-US" sz="2000">
                <a:latin typeface="Cambria Math"/>
              </a:rPr>
              <a:t>Analytics models for crop recommendation</a:t>
            </a:r>
            <a:r>
              <a:rPr lang="en-US" sz="2000" dirty="0">
                <a:latin typeface="Cambria Math"/>
              </a:rPr>
              <a:t>, </a:t>
            </a:r>
            <a:r>
              <a:rPr lang="en-US" sz="2000">
                <a:latin typeface="Cambria Math"/>
              </a:rPr>
              <a:t>yield prediction</a:t>
            </a:r>
            <a:r>
              <a:rPr lang="en-US" sz="2000" dirty="0">
                <a:latin typeface="Cambria Math"/>
              </a:rPr>
              <a:t>, </a:t>
            </a:r>
            <a:r>
              <a:rPr lang="en-US" sz="2000">
                <a:latin typeface="Cambria Math"/>
              </a:rPr>
              <a:t>and price forecasting</a:t>
            </a:r>
            <a:r>
              <a:rPr lang="en-US" sz="2000" dirty="0">
                <a:latin typeface="Cambria Math"/>
              </a:rPr>
              <a:t>.</a:t>
            </a:r>
          </a:p>
          <a:p>
            <a:pPr>
              <a:buFont typeface="Symbol"/>
              <a:buChar char="•"/>
            </a:pPr>
            <a:r>
              <a:rPr lang="en-US" sz="2000">
                <a:latin typeface="Cambria Math"/>
              </a:rPr>
              <a:t>A functional dashboard prototype for decision support</a:t>
            </a:r>
            <a:r>
              <a:rPr lang="en-US" sz="2000" dirty="0">
                <a:latin typeface="Cambria Math"/>
              </a:rPr>
              <a:t>.</a:t>
            </a:r>
          </a:p>
          <a:p>
            <a:pPr>
              <a:buFont typeface="Symbol"/>
              <a:buChar char="•"/>
            </a:pPr>
            <a:r>
              <a:rPr lang="en-US" sz="2000">
                <a:latin typeface="Cambria Math"/>
              </a:rPr>
              <a:t>Potential academic value </a:t>
            </a:r>
            <a:r>
              <a:rPr lang="en-US" sz="2000" dirty="0">
                <a:latin typeface="Cambria Math"/>
              </a:rPr>
              <a:t>(</a:t>
            </a:r>
            <a:r>
              <a:rPr lang="en-US" sz="2000">
                <a:latin typeface="Cambria Math"/>
              </a:rPr>
              <a:t>publication in data science/agriculture conferences</a:t>
            </a:r>
            <a:r>
              <a:rPr lang="en-US" sz="2000" dirty="0">
                <a:latin typeface="Cambria Math"/>
              </a:rPr>
              <a:t>).</a:t>
            </a:r>
          </a:p>
          <a:p>
            <a:pPr>
              <a:buFont typeface="Symbol"/>
              <a:buChar char="•"/>
            </a:pPr>
            <a:r>
              <a:rPr lang="en-US" sz="2000">
                <a:latin typeface="Cambria Math"/>
              </a:rPr>
              <a:t>Real-world impact by supporting rural farmers</a:t>
            </a:r>
            <a:r>
              <a:rPr lang="en-US" sz="2000" dirty="0">
                <a:latin typeface="Cambria Math"/>
              </a:rPr>
              <a:t>.</a:t>
            </a:r>
            <a:endParaRPr lang="en-IN" sz="2000" dirty="0">
              <a:latin typeface="Cambria Math"/>
            </a:endParaRPr>
          </a:p>
        </p:txBody>
      </p:sp>
    </p:spTree>
    <p:extLst>
      <p:ext uri="{BB962C8B-B14F-4D97-AF65-F5344CB8AC3E}">
        <p14:creationId xmlns:p14="http://schemas.microsoft.com/office/powerpoint/2010/main" val="2270575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962D6-469A-3B22-DFD4-C31FF9137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3ACEFC-F44F-E266-D53B-18C88D0042D4}"/>
              </a:ext>
            </a:extLst>
          </p:cNvPr>
          <p:cNvSpPr>
            <a:spLocks noGrp="1"/>
          </p:cNvSpPr>
          <p:nvPr>
            <p:ph type="title"/>
          </p:nvPr>
        </p:nvSpPr>
        <p:spPr>
          <a:xfrm>
            <a:off x="1304247" y="638320"/>
            <a:ext cx="9600501" cy="654486"/>
          </a:xfrm>
        </p:spPr>
        <p:txBody>
          <a:bodyPr>
            <a:normAutofit/>
          </a:bodyPr>
          <a:lstStyle/>
          <a:p>
            <a:r>
              <a:rPr lang="en-US" sz="3600">
                <a:latin typeface="Cambria Math"/>
                <a:ea typeface="Calibri"/>
                <a:cs typeface="Courier New"/>
              </a:rPr>
              <a:t>                                      TOOLS</a:t>
            </a:r>
          </a:p>
        </p:txBody>
      </p:sp>
      <p:sp>
        <p:nvSpPr>
          <p:cNvPr id="3" name="Content Placeholder 2">
            <a:extLst>
              <a:ext uri="{FF2B5EF4-FFF2-40B4-BE49-F238E27FC236}">
                <a16:creationId xmlns:a16="http://schemas.microsoft.com/office/drawing/2014/main" id="{971E1021-5E8F-9EC2-CB2D-88B8424A7F90}"/>
              </a:ext>
            </a:extLst>
          </p:cNvPr>
          <p:cNvSpPr>
            <a:spLocks noGrp="1"/>
          </p:cNvSpPr>
          <p:nvPr>
            <p:ph idx="1"/>
          </p:nvPr>
        </p:nvSpPr>
        <p:spPr>
          <a:xfrm>
            <a:off x="1300839" y="2005256"/>
            <a:ext cx="9601133" cy="4826793"/>
          </a:xfrm>
        </p:spPr>
        <p:txBody>
          <a:bodyPr vert="horz" lIns="91440" tIns="45720" rIns="91440" bIns="45720" rtlCol="0" anchor="t">
            <a:noAutofit/>
          </a:bodyPr>
          <a:lstStyle/>
          <a:p>
            <a:pPr marL="342900" indent="-342900">
              <a:lnSpc>
                <a:spcPct val="100000"/>
              </a:lnSpc>
              <a:spcBef>
                <a:spcPts val="0"/>
              </a:spcBef>
              <a:buAutoNum type="arabicParenR"/>
            </a:pPr>
            <a:r>
              <a:rPr lang="en-US" sz="2400">
                <a:solidFill>
                  <a:srgbClr val="000000"/>
                </a:solidFill>
                <a:latin typeface="Times New Roman"/>
                <a:cs typeface="Times New Roman"/>
              </a:rPr>
              <a:t>Programming Language : Python</a:t>
            </a:r>
          </a:p>
          <a:p>
            <a:pPr marL="342900" indent="-342900">
              <a:lnSpc>
                <a:spcPct val="100000"/>
              </a:lnSpc>
              <a:spcBef>
                <a:spcPts val="0"/>
              </a:spcBef>
              <a:buClr>
                <a:srgbClr val="595959"/>
              </a:buClr>
              <a:buAutoNum type="arabicParenR"/>
            </a:pPr>
            <a:endParaRPr lang="en-US" sz="2400" dirty="0">
              <a:solidFill>
                <a:srgbClr val="000000"/>
              </a:solidFill>
              <a:latin typeface="Times New Roman"/>
              <a:cs typeface="Times New Roman"/>
            </a:endParaRPr>
          </a:p>
          <a:p>
            <a:pPr marL="342900" indent="-342900">
              <a:lnSpc>
                <a:spcPct val="100000"/>
              </a:lnSpc>
              <a:spcBef>
                <a:spcPts val="0"/>
              </a:spcBef>
              <a:buClr>
                <a:srgbClr val="595959"/>
              </a:buClr>
              <a:buAutoNum type="arabicParenR"/>
            </a:pPr>
            <a:r>
              <a:rPr lang="en-US" sz="2400">
                <a:solidFill>
                  <a:srgbClr val="000000"/>
                </a:solidFill>
                <a:latin typeface="Times New Roman"/>
                <a:cs typeface="Times New Roman"/>
              </a:rPr>
              <a:t>Frameworks and Libraries : Pandas, Matplotlib,Seaborn,Sklearn,StreamLit.</a:t>
            </a:r>
          </a:p>
          <a:p>
            <a:pPr marL="342900" indent="-342900">
              <a:lnSpc>
                <a:spcPct val="100000"/>
              </a:lnSpc>
              <a:spcBef>
                <a:spcPts val="0"/>
              </a:spcBef>
              <a:buClr>
                <a:srgbClr val="595959"/>
              </a:buClr>
              <a:buAutoNum type="arabicParenR"/>
            </a:pPr>
            <a:endParaRPr lang="en-US" sz="2400" dirty="0">
              <a:solidFill>
                <a:srgbClr val="000000"/>
              </a:solidFill>
              <a:latin typeface="Times New Roman"/>
              <a:cs typeface="Times New Roman"/>
            </a:endParaRPr>
          </a:p>
          <a:p>
            <a:pPr marL="342900" indent="-342900">
              <a:lnSpc>
                <a:spcPct val="100000"/>
              </a:lnSpc>
              <a:spcBef>
                <a:spcPts val="0"/>
              </a:spcBef>
              <a:buClr>
                <a:srgbClr val="595959"/>
              </a:buClr>
              <a:buAutoNum type="arabicParenR"/>
            </a:pPr>
            <a:r>
              <a:rPr lang="en-US" sz="2400">
                <a:solidFill>
                  <a:srgbClr val="000000"/>
                </a:solidFill>
                <a:latin typeface="Times New Roman"/>
                <a:cs typeface="Times New Roman"/>
              </a:rPr>
              <a:t>IDE : Jupiter Notebook </a:t>
            </a:r>
          </a:p>
          <a:p>
            <a:pPr marL="342900" indent="-342900">
              <a:lnSpc>
                <a:spcPct val="100000"/>
              </a:lnSpc>
              <a:spcBef>
                <a:spcPts val="0"/>
              </a:spcBef>
              <a:buClr>
                <a:srgbClr val="595959"/>
              </a:buClr>
              <a:buAutoNum type="arabicParenR"/>
            </a:pPr>
            <a:endParaRPr lang="en-US" sz="2400">
              <a:solidFill>
                <a:srgbClr val="000000"/>
              </a:solidFill>
              <a:latin typeface="Times New Roman"/>
              <a:cs typeface="Times New Roman"/>
            </a:endParaRPr>
          </a:p>
          <a:p>
            <a:pPr marL="342900" indent="-342900">
              <a:lnSpc>
                <a:spcPct val="100000"/>
              </a:lnSpc>
              <a:spcBef>
                <a:spcPts val="0"/>
              </a:spcBef>
              <a:buClr>
                <a:srgbClr val="595959"/>
              </a:buClr>
              <a:buAutoNum type="arabicParenR"/>
            </a:pPr>
            <a:endParaRPr lang="en-US" sz="2400">
              <a:solidFill>
                <a:srgbClr val="000000"/>
              </a:solidFill>
              <a:latin typeface="Times New Roman"/>
              <a:cs typeface="Times New Roman"/>
            </a:endParaRPr>
          </a:p>
          <a:p>
            <a:pPr marL="342900" indent="-342900">
              <a:lnSpc>
                <a:spcPct val="100000"/>
              </a:lnSpc>
              <a:spcBef>
                <a:spcPts val="0"/>
              </a:spcBef>
              <a:buClr>
                <a:srgbClr val="595959"/>
              </a:buClr>
              <a:buAutoNum type="arabicParenR"/>
            </a:pPr>
            <a:endParaRPr lang="en-US" sz="2400">
              <a:solidFill>
                <a:srgbClr val="000000"/>
              </a:solidFill>
              <a:latin typeface="Times New Roman"/>
              <a:cs typeface="Times New Roman"/>
            </a:endParaRPr>
          </a:p>
          <a:p>
            <a:pPr marL="342900" indent="-342900">
              <a:lnSpc>
                <a:spcPct val="100000"/>
              </a:lnSpc>
              <a:spcBef>
                <a:spcPts val="0"/>
              </a:spcBef>
              <a:buClr>
                <a:srgbClr val="595959"/>
              </a:buClr>
              <a:buAutoNum type="arabicParenR"/>
            </a:pPr>
            <a:endParaRPr lang="en-US" sz="2400">
              <a:solidFill>
                <a:srgbClr val="000000"/>
              </a:solidFill>
              <a:latin typeface="Times New Roman"/>
              <a:cs typeface="Times New Roman"/>
            </a:endParaRPr>
          </a:p>
          <a:p>
            <a:pPr marL="342900" indent="-342900">
              <a:lnSpc>
                <a:spcPct val="100000"/>
              </a:lnSpc>
              <a:spcBef>
                <a:spcPts val="0"/>
              </a:spcBef>
              <a:buClr>
                <a:srgbClr val="595959"/>
              </a:buClr>
              <a:buAutoNum type="arabicParenR"/>
            </a:pPr>
            <a:endParaRPr lang="en-US" sz="2400">
              <a:solidFill>
                <a:srgbClr val="000000"/>
              </a:solidFill>
              <a:latin typeface="Times New Roman"/>
              <a:cs typeface="Times New Roman"/>
            </a:endParaRPr>
          </a:p>
        </p:txBody>
      </p:sp>
      <p:pic>
        <p:nvPicPr>
          <p:cNvPr id="4" name="Picture 3">
            <a:extLst>
              <a:ext uri="{FF2B5EF4-FFF2-40B4-BE49-F238E27FC236}">
                <a16:creationId xmlns:a16="http://schemas.microsoft.com/office/drawing/2014/main" id="{BD70E18C-91C5-82F2-FA92-78BF31B34001}"/>
              </a:ext>
            </a:extLst>
          </p:cNvPr>
          <p:cNvPicPr>
            <a:picLocks noChangeAspect="1"/>
          </p:cNvPicPr>
          <p:nvPr/>
        </p:nvPicPr>
        <p:blipFill>
          <a:blip r:embed="rId2"/>
          <a:stretch>
            <a:fillRect/>
          </a:stretch>
        </p:blipFill>
        <p:spPr>
          <a:xfrm>
            <a:off x="279882" y="4854537"/>
            <a:ext cx="2532990" cy="2209800"/>
          </a:xfrm>
          <a:prstGeom prst="rect">
            <a:avLst/>
          </a:prstGeom>
        </p:spPr>
      </p:pic>
      <p:pic>
        <p:nvPicPr>
          <p:cNvPr id="5" name="Picture 4" descr="A blue and orange circle with black text&#10;&#10;AI-generated content may be incorrect.">
            <a:extLst>
              <a:ext uri="{FF2B5EF4-FFF2-40B4-BE49-F238E27FC236}">
                <a16:creationId xmlns:a16="http://schemas.microsoft.com/office/drawing/2014/main" id="{1CAF1F9F-DE81-92E8-468D-3849385A7994}"/>
              </a:ext>
            </a:extLst>
          </p:cNvPr>
          <p:cNvPicPr>
            <a:picLocks noChangeAspect="1"/>
          </p:cNvPicPr>
          <p:nvPr/>
        </p:nvPicPr>
        <p:blipFill>
          <a:blip r:embed="rId3"/>
          <a:stretch>
            <a:fillRect/>
          </a:stretch>
        </p:blipFill>
        <p:spPr>
          <a:xfrm>
            <a:off x="2175437" y="5521287"/>
            <a:ext cx="1695008" cy="876300"/>
          </a:xfrm>
          <a:prstGeom prst="rect">
            <a:avLst/>
          </a:prstGeom>
        </p:spPr>
      </p:pic>
      <p:pic>
        <p:nvPicPr>
          <p:cNvPr id="6" name="Picture 5" descr="A logo with a blue circle and white lines&#10;&#10;AI-generated content may be incorrect.">
            <a:extLst>
              <a:ext uri="{FF2B5EF4-FFF2-40B4-BE49-F238E27FC236}">
                <a16:creationId xmlns:a16="http://schemas.microsoft.com/office/drawing/2014/main" id="{E312581D-B350-BAC1-017D-21636FBF1760}"/>
              </a:ext>
            </a:extLst>
          </p:cNvPr>
          <p:cNvPicPr>
            <a:picLocks noChangeAspect="1"/>
          </p:cNvPicPr>
          <p:nvPr/>
        </p:nvPicPr>
        <p:blipFill>
          <a:blip r:embed="rId4"/>
          <a:stretch>
            <a:fillRect/>
          </a:stretch>
        </p:blipFill>
        <p:spPr>
          <a:xfrm>
            <a:off x="4063191" y="5406987"/>
            <a:ext cx="1161747" cy="1104900"/>
          </a:xfrm>
          <a:prstGeom prst="rect">
            <a:avLst/>
          </a:prstGeom>
        </p:spPr>
      </p:pic>
      <p:pic>
        <p:nvPicPr>
          <p:cNvPr id="7" name="Picture 6" descr="A logo with blue and yellow squares&#10;&#10;AI-generated content may be incorrect.">
            <a:extLst>
              <a:ext uri="{FF2B5EF4-FFF2-40B4-BE49-F238E27FC236}">
                <a16:creationId xmlns:a16="http://schemas.microsoft.com/office/drawing/2014/main" id="{556DEAD9-974C-BE41-F5C6-B247FE93E5EA}"/>
              </a:ext>
            </a:extLst>
          </p:cNvPr>
          <p:cNvPicPr>
            <a:picLocks noChangeAspect="1"/>
          </p:cNvPicPr>
          <p:nvPr/>
        </p:nvPicPr>
        <p:blipFill>
          <a:blip r:embed="rId5"/>
          <a:stretch>
            <a:fillRect/>
          </a:stretch>
        </p:blipFill>
        <p:spPr>
          <a:xfrm>
            <a:off x="5282589" y="5318794"/>
            <a:ext cx="1552171" cy="1095375"/>
          </a:xfrm>
          <a:prstGeom prst="rect">
            <a:avLst/>
          </a:prstGeom>
        </p:spPr>
      </p:pic>
      <p:pic>
        <p:nvPicPr>
          <p:cNvPr id="8" name="Picture 7" descr="A close-up of a logo&#10;&#10;AI-generated content may be incorrect.">
            <a:extLst>
              <a:ext uri="{FF2B5EF4-FFF2-40B4-BE49-F238E27FC236}">
                <a16:creationId xmlns:a16="http://schemas.microsoft.com/office/drawing/2014/main" id="{73420914-62ED-5212-DF5A-F50A8BC028EB}"/>
              </a:ext>
            </a:extLst>
          </p:cNvPr>
          <p:cNvPicPr>
            <a:picLocks noChangeAspect="1"/>
          </p:cNvPicPr>
          <p:nvPr/>
        </p:nvPicPr>
        <p:blipFill>
          <a:blip r:embed="rId6"/>
          <a:stretch>
            <a:fillRect/>
          </a:stretch>
        </p:blipFill>
        <p:spPr>
          <a:xfrm>
            <a:off x="6710393" y="5516524"/>
            <a:ext cx="2599648" cy="885825"/>
          </a:xfrm>
          <a:prstGeom prst="rect">
            <a:avLst/>
          </a:prstGeom>
        </p:spPr>
      </p:pic>
      <p:pic>
        <p:nvPicPr>
          <p:cNvPr id="9" name="Picture 8" descr="A logo with orange and grey circles&#10;&#10;AI-generated content may be incorrect.">
            <a:extLst>
              <a:ext uri="{FF2B5EF4-FFF2-40B4-BE49-F238E27FC236}">
                <a16:creationId xmlns:a16="http://schemas.microsoft.com/office/drawing/2014/main" id="{E0A1B1C5-8315-AC56-03D7-B456A0A22CD5}"/>
              </a:ext>
            </a:extLst>
          </p:cNvPr>
          <p:cNvPicPr>
            <a:picLocks noChangeAspect="1"/>
          </p:cNvPicPr>
          <p:nvPr/>
        </p:nvPicPr>
        <p:blipFill>
          <a:blip r:embed="rId7"/>
          <a:stretch>
            <a:fillRect/>
          </a:stretch>
        </p:blipFill>
        <p:spPr>
          <a:xfrm>
            <a:off x="9111216" y="5530812"/>
            <a:ext cx="1990207" cy="857250"/>
          </a:xfrm>
          <a:prstGeom prst="rect">
            <a:avLst/>
          </a:prstGeom>
        </p:spPr>
      </p:pic>
    </p:spTree>
    <p:extLst>
      <p:ext uri="{BB962C8B-B14F-4D97-AF65-F5344CB8AC3E}">
        <p14:creationId xmlns:p14="http://schemas.microsoft.com/office/powerpoint/2010/main" val="1254901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603A6-F6F2-A216-A934-C787DC25C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6F3A11-C2BF-6D07-5D99-9AEFCE84C27E}"/>
              </a:ext>
            </a:extLst>
          </p:cNvPr>
          <p:cNvSpPr>
            <a:spLocks noGrp="1"/>
          </p:cNvSpPr>
          <p:nvPr>
            <p:ph type="title"/>
          </p:nvPr>
        </p:nvSpPr>
        <p:spPr>
          <a:xfrm>
            <a:off x="1304247" y="638320"/>
            <a:ext cx="9600501" cy="654486"/>
          </a:xfrm>
        </p:spPr>
        <p:txBody>
          <a:bodyPr>
            <a:normAutofit/>
          </a:bodyPr>
          <a:lstStyle/>
          <a:p>
            <a:r>
              <a:rPr lang="en-US" sz="3600">
                <a:latin typeface="Cambria Math"/>
                <a:ea typeface="Calibri"/>
                <a:cs typeface="Courier New"/>
              </a:rPr>
              <a:t>                           FUTURE WORK</a:t>
            </a:r>
          </a:p>
        </p:txBody>
      </p:sp>
      <p:sp>
        <p:nvSpPr>
          <p:cNvPr id="3" name="Content Placeholder 2">
            <a:extLst>
              <a:ext uri="{FF2B5EF4-FFF2-40B4-BE49-F238E27FC236}">
                <a16:creationId xmlns:a16="http://schemas.microsoft.com/office/drawing/2014/main" id="{7480274C-4436-08ED-9B55-C933746B2C47}"/>
              </a:ext>
            </a:extLst>
          </p:cNvPr>
          <p:cNvSpPr>
            <a:spLocks noGrp="1"/>
          </p:cNvSpPr>
          <p:nvPr>
            <p:ph idx="1"/>
          </p:nvPr>
        </p:nvSpPr>
        <p:spPr>
          <a:xfrm>
            <a:off x="1414421" y="1292602"/>
            <a:ext cx="9601133" cy="4826793"/>
          </a:xfrm>
        </p:spPr>
        <p:txBody>
          <a:bodyPr vert="horz" lIns="91440" tIns="45720" rIns="91440" bIns="45720" rtlCol="0" anchor="t">
            <a:noAutofit/>
          </a:bodyPr>
          <a:lstStyle/>
          <a:p>
            <a:endParaRPr lang="en-US" sz="2000">
              <a:solidFill>
                <a:srgbClr val="000000"/>
              </a:solidFill>
              <a:latin typeface="Cambria Math"/>
            </a:endParaRPr>
          </a:p>
          <a:p>
            <a:endParaRPr lang="en-US" sz="2000">
              <a:solidFill>
                <a:srgbClr val="000000"/>
              </a:solidFill>
              <a:latin typeface="Cambria Math"/>
            </a:endParaRPr>
          </a:p>
          <a:p>
            <a:pPr>
              <a:buFont typeface="Symbol"/>
              <a:buChar char="•"/>
            </a:pPr>
            <a:r>
              <a:rPr lang="en-US" sz="2000">
                <a:solidFill>
                  <a:srgbClr val="000000"/>
                </a:solidFill>
                <a:latin typeface="Cambria Math"/>
              </a:rPr>
              <a:t>Integration with IoT devices (soil sensors, weather stations).</a:t>
            </a:r>
          </a:p>
          <a:p>
            <a:pPr>
              <a:buFont typeface="Symbol"/>
              <a:buChar char="•"/>
            </a:pPr>
            <a:r>
              <a:rPr lang="en-US" sz="2000">
                <a:solidFill>
                  <a:srgbClr val="000000"/>
                </a:solidFill>
                <a:latin typeface="Cambria Math"/>
              </a:rPr>
              <a:t>Use of satellite imagery (Sentinel-2) for crop health monitoring.</a:t>
            </a:r>
          </a:p>
          <a:p>
            <a:pPr>
              <a:buFont typeface="Symbol"/>
              <a:buChar char="•"/>
            </a:pPr>
            <a:r>
              <a:rPr lang="en-US" sz="2000">
                <a:solidFill>
                  <a:srgbClr val="000000"/>
                </a:solidFill>
                <a:latin typeface="Cambria Math"/>
              </a:rPr>
              <a:t>Mobile application with multi-language support for direct farmer use.</a:t>
            </a:r>
          </a:p>
          <a:p>
            <a:pPr>
              <a:buFont typeface="Symbol"/>
              <a:buChar char="•"/>
            </a:pPr>
            <a:r>
              <a:rPr lang="en-US" sz="2000">
                <a:solidFill>
                  <a:srgbClr val="000000"/>
                </a:solidFill>
                <a:latin typeface="Cambria Math"/>
              </a:rPr>
              <a:t>Collaboration with agriculture department for large-scale deployment.</a:t>
            </a:r>
          </a:p>
          <a:p>
            <a:pPr marL="285750" indent="-285750">
              <a:buClr>
                <a:srgbClr val="595959"/>
              </a:buClr>
              <a:buFont typeface="Symbol"/>
              <a:buChar char="•"/>
            </a:pPr>
            <a:endParaRPr lang="en-US" sz="1200">
              <a:solidFill>
                <a:srgbClr val="000000"/>
              </a:solidFill>
              <a:latin typeface="Aptos"/>
            </a:endParaRPr>
          </a:p>
        </p:txBody>
      </p:sp>
    </p:spTree>
    <p:extLst>
      <p:ext uri="{BB962C8B-B14F-4D97-AF65-F5344CB8AC3E}">
        <p14:creationId xmlns:p14="http://schemas.microsoft.com/office/powerpoint/2010/main" val="1605433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FD84-9CAB-C0D9-EE0A-336EA008F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4E6E4-AFF1-F14A-E904-1C2452E6666D}"/>
              </a:ext>
            </a:extLst>
          </p:cNvPr>
          <p:cNvSpPr>
            <a:spLocks noGrp="1"/>
          </p:cNvSpPr>
          <p:nvPr>
            <p:ph type="title"/>
          </p:nvPr>
        </p:nvSpPr>
        <p:spPr>
          <a:xfrm>
            <a:off x="1304247" y="638320"/>
            <a:ext cx="9600501" cy="654486"/>
          </a:xfrm>
        </p:spPr>
        <p:txBody>
          <a:bodyPr>
            <a:normAutofit/>
          </a:bodyPr>
          <a:lstStyle/>
          <a:p>
            <a:r>
              <a:rPr lang="en-US" sz="3600">
                <a:latin typeface="Cambria Math"/>
                <a:ea typeface="Calibri"/>
                <a:cs typeface="Courier New"/>
              </a:rPr>
              <a:t>                               CONCLUSION</a:t>
            </a:r>
          </a:p>
        </p:txBody>
      </p:sp>
      <p:sp>
        <p:nvSpPr>
          <p:cNvPr id="3" name="Content Placeholder 2">
            <a:extLst>
              <a:ext uri="{FF2B5EF4-FFF2-40B4-BE49-F238E27FC236}">
                <a16:creationId xmlns:a16="http://schemas.microsoft.com/office/drawing/2014/main" id="{1DDAD02B-F23B-C926-7C81-C01A1878D86E}"/>
              </a:ext>
            </a:extLst>
          </p:cNvPr>
          <p:cNvSpPr>
            <a:spLocks noGrp="1"/>
          </p:cNvSpPr>
          <p:nvPr>
            <p:ph idx="1"/>
          </p:nvPr>
        </p:nvSpPr>
        <p:spPr>
          <a:xfrm>
            <a:off x="1300839" y="1695406"/>
            <a:ext cx="9601133" cy="4826793"/>
          </a:xfrm>
        </p:spPr>
        <p:txBody>
          <a:bodyPr vert="horz" lIns="91440" tIns="45720" rIns="91440" bIns="45720" rtlCol="0" anchor="t">
            <a:noAutofit/>
          </a:bodyPr>
          <a:lstStyle/>
          <a:p>
            <a:endParaRPr lang="en-US" sz="2000">
              <a:solidFill>
                <a:srgbClr val="000000"/>
              </a:solidFill>
              <a:latin typeface="Cambria Math"/>
            </a:endParaRPr>
          </a:p>
          <a:p>
            <a:r>
              <a:rPr lang="en-US" sz="2000" dirty="0">
                <a:solidFill>
                  <a:srgbClr val="000000"/>
                </a:solidFill>
                <a:latin typeface="Cambria Math"/>
              </a:rPr>
              <a:t>The </a:t>
            </a:r>
            <a:r>
              <a:rPr lang="en-US" sz="2000" b="1" dirty="0">
                <a:solidFill>
                  <a:srgbClr val="000000"/>
                </a:solidFill>
                <a:latin typeface="Cambria Math"/>
              </a:rPr>
              <a:t>Smart Rural Farming Analytics</a:t>
            </a:r>
            <a:r>
              <a:rPr lang="en-US" sz="2000" dirty="0">
                <a:solidFill>
                  <a:srgbClr val="000000"/>
                </a:solidFill>
                <a:latin typeface="Cambria Math"/>
              </a:rPr>
              <a:t> project represents an interdisciplinary effort bridging </a:t>
            </a:r>
            <a:r>
              <a:rPr lang="en-US" sz="2000" b="1" dirty="0">
                <a:solidFill>
                  <a:srgbClr val="000000"/>
                </a:solidFill>
                <a:latin typeface="Cambria Math"/>
              </a:rPr>
              <a:t>Computer Science and Agriculture</a:t>
            </a:r>
            <a:r>
              <a:rPr lang="en-US" sz="2000" dirty="0">
                <a:solidFill>
                  <a:srgbClr val="000000"/>
                </a:solidFill>
                <a:latin typeface="Cambria Math"/>
              </a:rPr>
              <a:t>. </a:t>
            </a:r>
          </a:p>
          <a:p>
            <a:r>
              <a:rPr lang="en-US" sz="2000" dirty="0">
                <a:solidFill>
                  <a:srgbClr val="000000"/>
                </a:solidFill>
                <a:latin typeface="Cambria Math"/>
              </a:rPr>
              <a:t>By creating a comprehensive dataset and applying data analytics, the project empowers farmers with knowledge that can improve productivity, profitability, and sustainability. This project also contributes to building digital agriculture solutions tailored to India’s unique rural challenges.</a:t>
            </a:r>
            <a:endParaRPr lang="en-US" dirty="0"/>
          </a:p>
          <a:p>
            <a:pPr>
              <a:buFont typeface="Symbol"/>
              <a:buChar char="•"/>
            </a:pPr>
            <a:endParaRPr lang="en-US" sz="2000" dirty="0">
              <a:solidFill>
                <a:srgbClr val="000000"/>
              </a:solidFill>
              <a:latin typeface="Cambria Math"/>
            </a:endParaRPr>
          </a:p>
          <a:p>
            <a:pPr marL="285750" indent="-285750">
              <a:buClr>
                <a:srgbClr val="595959"/>
              </a:buClr>
              <a:buFont typeface="Symbol"/>
              <a:buChar char="•"/>
            </a:pPr>
            <a:endParaRPr lang="en-US" sz="1200">
              <a:solidFill>
                <a:srgbClr val="000000"/>
              </a:solidFill>
              <a:latin typeface="Aptos"/>
            </a:endParaRPr>
          </a:p>
        </p:txBody>
      </p:sp>
    </p:spTree>
    <p:extLst>
      <p:ext uri="{BB962C8B-B14F-4D97-AF65-F5344CB8AC3E}">
        <p14:creationId xmlns:p14="http://schemas.microsoft.com/office/powerpoint/2010/main" val="2852296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8FAB7-6866-3812-631A-E2F761D8C7CE}"/>
              </a:ext>
            </a:extLst>
          </p:cNvPr>
          <p:cNvSpPr>
            <a:spLocks noGrp="1"/>
          </p:cNvSpPr>
          <p:nvPr>
            <p:ph type="title"/>
          </p:nvPr>
        </p:nvSpPr>
        <p:spPr>
          <a:xfrm>
            <a:off x="684212" y="1833282"/>
            <a:ext cx="10287000" cy="1889829"/>
          </a:xfrm>
        </p:spPr>
        <p:txBody>
          <a:bodyPr/>
          <a:lstStyle/>
          <a:p>
            <a:r>
              <a:rPr lang="en-US" dirty="0"/>
              <a:t>             Thank You</a:t>
            </a:r>
          </a:p>
        </p:txBody>
      </p:sp>
      <p:sp>
        <p:nvSpPr>
          <p:cNvPr id="3" name="Text Placeholder 2">
            <a:extLst>
              <a:ext uri="{FF2B5EF4-FFF2-40B4-BE49-F238E27FC236}">
                <a16:creationId xmlns:a16="http://schemas.microsoft.com/office/drawing/2014/main" id="{F16478D5-27C1-4BCE-C4D9-5DD34F578B14}"/>
              </a:ext>
            </a:extLst>
          </p:cNvPr>
          <p:cNvSpPr>
            <a:spLocks noGrp="1"/>
          </p:cNvSpPr>
          <p:nvPr>
            <p:ph type="body" sz="quarter" idx="10"/>
          </p:nvPr>
        </p:nvSpPr>
        <p:spPr>
          <a:xfrm>
            <a:off x="684212" y="4576655"/>
            <a:ext cx="10287000" cy="1557445"/>
          </a:xfrm>
        </p:spPr>
        <p:txBody>
          <a:bodyPr>
            <a:normAutofit/>
          </a:bodyPr>
          <a:lstStyle/>
          <a:p>
            <a:endParaRPr lang="en-US"/>
          </a:p>
        </p:txBody>
      </p:sp>
    </p:spTree>
    <p:extLst>
      <p:ext uri="{BB962C8B-B14F-4D97-AF65-F5344CB8AC3E}">
        <p14:creationId xmlns:p14="http://schemas.microsoft.com/office/powerpoint/2010/main" val="2223523737"/>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6" id="{E98E9C9B-9291-4B47-BC4D-DAE7B5F9EC1B}" vid="{225AF68F-18F0-421B-8B78-1F33E1A33B6C}"/>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37B52A-9EC8-4B7A-85C4-31F7EAFE403D}">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332</Words>
  <Application>Microsoft Office PowerPoint</Application>
  <PresentationFormat>Custom</PresentationFormat>
  <Paragraphs>108</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Custom</vt:lpstr>
      <vt:lpstr>                     Department of Computer Science and Engineering                                                   IIT KHARAGPUR</vt:lpstr>
      <vt:lpstr>            INTRODUCTION AND MOTIVATION</vt:lpstr>
      <vt:lpstr>                       PROBLEM STATEMENT</vt:lpstr>
      <vt:lpstr>                            DATA SOURCES</vt:lpstr>
      <vt:lpstr>                      EXPECTED OUTCOMES</vt:lpstr>
      <vt:lpstr>                                      TOOLS</vt:lpstr>
      <vt:lpstr>                           FUTURE WORK</vt:lpstr>
      <vt:lpstr>                               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256</cp:revision>
  <dcterms:created xsi:type="dcterms:W3CDTF">2025-08-28T14:24:30Z</dcterms:created>
  <dcterms:modified xsi:type="dcterms:W3CDTF">2025-08-28T16:05:53Z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