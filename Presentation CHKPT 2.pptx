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89" r:id="rId6"/>
    <p:sldId id="291" r:id="rId7"/>
    <p:sldId id="292" r:id="rId8"/>
    <p:sldId id="299" r:id="rId9"/>
    <p:sldId id="301" r:id="rId10"/>
    <p:sldId id="298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47999-C7A4-4BD9-8662-003ACFD548F1}" v="8" dt="2025-10-22T07:49:19.717"/>
    <p1510:client id="{7C52812A-211E-4A5C-B833-8A1BBAD6D0E3}" v="29" dt="2025-10-22T07:44:43.728"/>
    <p1510:client id="{BC8DEE2D-19C5-4114-A9EB-F2AA8C78B67B}" v="157" dt="2025-10-22T07:34:50.69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10/22/2025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10/22/2025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4253" y="556928"/>
            <a:ext cx="10287000" cy="660750"/>
          </a:xfrm>
        </p:spPr>
        <p:txBody>
          <a:bodyPr anchor="b">
            <a:normAutofit fontScale="90000"/>
          </a:bodyPr>
          <a:lstStyle/>
          <a:p>
            <a:r>
              <a:rPr lang="en-US" sz="2800" dirty="0">
                <a:latin typeface="Cambria Math"/>
                <a:ea typeface="Calibri"/>
                <a:cs typeface="Calibri"/>
              </a:rPr>
              <a:t>                     Department of Computer Science and Engineering </a:t>
            </a:r>
            <a:br>
              <a:rPr lang="en-US" sz="2800" dirty="0">
                <a:latin typeface="Cambria Math"/>
                <a:ea typeface="Calibri"/>
                <a:cs typeface="Calibri"/>
              </a:rPr>
            </a:br>
            <a:r>
              <a:rPr lang="en-US" sz="2800" dirty="0">
                <a:latin typeface="Cambria Math"/>
                <a:ea typeface="Calibri"/>
                <a:cs typeface="Calibri"/>
              </a:rPr>
              <a:t>                                                 IIT KHARAGPUR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1394043"/>
            <a:ext cx="10287000" cy="4740057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/>
                <a:ea typeface="Cambria"/>
                <a:cs typeface="Courier New"/>
              </a:rPr>
              <a:t>                       </a:t>
            </a:r>
          </a:p>
          <a:p>
            <a:r>
              <a:rPr lang="en-US" dirty="0">
                <a:latin typeface="Cambria Math"/>
                <a:ea typeface="Cambria"/>
                <a:cs typeface="Courier New"/>
              </a:rPr>
              <a:t>                                            DATA ANALYTICS PROJECT                        </a:t>
            </a:r>
          </a:p>
          <a:p>
            <a:r>
              <a:rPr lang="en-US" dirty="0">
                <a:latin typeface="Cambria Math"/>
                <a:ea typeface="Cambria"/>
                <a:cs typeface="Courier New"/>
              </a:rPr>
              <a:t>             </a:t>
            </a:r>
            <a:r>
              <a:rPr lang="en-US" sz="3200" dirty="0">
                <a:latin typeface="Cambria Math"/>
                <a:ea typeface="Cambria"/>
                <a:cs typeface="Courier New"/>
              </a:rPr>
              <a:t>TOPIC – SMART RURAL FARMING ANALYTICS </a:t>
            </a:r>
          </a:p>
          <a:p>
            <a:r>
              <a:rPr lang="en-US" dirty="0">
                <a:latin typeface="Cambria Math"/>
                <a:ea typeface="Cambria"/>
                <a:cs typeface="Courier New"/>
              </a:rPr>
              <a:t>                                                </a:t>
            </a:r>
          </a:p>
          <a:p>
            <a:r>
              <a:rPr lang="en-US" dirty="0">
                <a:latin typeface="Cambria Math"/>
                <a:ea typeface="Cambria"/>
                <a:cs typeface="Courier New"/>
              </a:rPr>
              <a:t>                                           </a:t>
            </a:r>
            <a:r>
              <a:rPr lang="en-US" sz="2000" dirty="0">
                <a:latin typeface="Cambria Math"/>
                <a:ea typeface="Cambria"/>
                <a:cs typeface="Courier New"/>
              </a:rPr>
              <a:t>GROUP NUMBER – 15</a:t>
            </a:r>
            <a:endParaRPr lang="en-US" dirty="0"/>
          </a:p>
          <a:p>
            <a:r>
              <a:rPr lang="en-US" sz="2000" dirty="0">
                <a:latin typeface="Cambria Math"/>
                <a:ea typeface="Cambria"/>
                <a:cs typeface="Courier New"/>
              </a:rPr>
              <a:t>                                                    AMAN SHARMA (25CS60R330)</a:t>
            </a:r>
          </a:p>
          <a:p>
            <a:r>
              <a:rPr lang="en-US" sz="2000" dirty="0">
                <a:latin typeface="Cambria Math"/>
                <a:ea typeface="Cambria"/>
                <a:cs typeface="Courier New"/>
              </a:rPr>
              <a:t>                                                    RAHUL BASUMATARY (25CS60R13)</a:t>
            </a:r>
          </a:p>
          <a:p>
            <a:r>
              <a:rPr lang="en-US" sz="2000" dirty="0">
                <a:latin typeface="Cambria Math"/>
                <a:ea typeface="Cambria"/>
                <a:cs typeface="Courier New"/>
              </a:rPr>
              <a:t>                                                    ASHISH KUMAR (25CS60R81)</a:t>
            </a:r>
          </a:p>
        </p:txBody>
      </p:sp>
      <p:pic>
        <p:nvPicPr>
          <p:cNvPr id="2" name="Picture 1" descr="A logo of a book with a tree and text&#10;&#10;AI-generated content may be incorrect.">
            <a:extLst>
              <a:ext uri="{FF2B5EF4-FFF2-40B4-BE49-F238E27FC236}">
                <a16:creationId xmlns:a16="http://schemas.microsoft.com/office/drawing/2014/main" id="{F29BE1A6-EBC3-BFED-08AD-A811FB3A5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21" y="1014015"/>
            <a:ext cx="1962360" cy="21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69C5-87BF-562F-BFA5-F42F0C28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04B1-C77B-6944-322E-0798F828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247" y="441786"/>
            <a:ext cx="9600501" cy="654486"/>
          </a:xfrm>
        </p:spPr>
        <p:txBody>
          <a:bodyPr>
            <a:normAutofit/>
          </a:bodyPr>
          <a:lstStyle/>
          <a:p>
            <a:r>
              <a:rPr lang="en-US" sz="3600">
                <a:latin typeface="Cambria Math"/>
                <a:ea typeface="Calibri"/>
                <a:cs typeface="Courier New"/>
              </a:rPr>
              <a:t>     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7ACD-2343-095E-F5B8-68B8EFFF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39" y="1281620"/>
            <a:ext cx="9590795" cy="52715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Cambria Math"/>
              </a:rPr>
              <a:t>Farmers often rely on intuition or traditional practices for decision-making, which can lead to: </a:t>
            </a:r>
          </a:p>
          <a:p>
            <a:r>
              <a:rPr lang="en-US" sz="2000">
                <a:latin typeface="Cambria Math"/>
              </a:rPr>
              <a:t>- Suboptimal crop selection. </a:t>
            </a:r>
          </a:p>
          <a:p>
            <a:r>
              <a:rPr lang="en-US" sz="2000">
                <a:latin typeface="Cambria Math"/>
              </a:rPr>
              <a:t>- Poor yield due to mismatched soil and climate conditions. </a:t>
            </a:r>
          </a:p>
          <a:p>
            <a:r>
              <a:rPr lang="en-US" sz="2000">
                <a:latin typeface="Cambria Math"/>
              </a:rPr>
              <a:t>- Income instability due to fluctuating market prices. </a:t>
            </a:r>
          </a:p>
          <a:p>
            <a:r>
              <a:rPr lang="en-US" sz="2000">
                <a:latin typeface="Cambria Math"/>
              </a:rPr>
              <a:t>- Crop losses due to floods, droughts, and other climate-related risks.</a:t>
            </a:r>
          </a:p>
          <a:p>
            <a:r>
              <a:rPr lang="en-IN" sz="2000">
                <a:latin typeface="Cambria Math"/>
              </a:rPr>
              <a:t>Most available Agri-analytics platforms are </a:t>
            </a:r>
            <a:r>
              <a:rPr lang="en-IN" sz="2000" b="1">
                <a:latin typeface="Cambria Math"/>
              </a:rPr>
              <a:t>designed for large-scale farming</a:t>
            </a:r>
            <a:r>
              <a:rPr lang="en-IN" sz="2000">
                <a:latin typeface="Cambria Math"/>
              </a:rPr>
              <a:t> in developed regions, not for </a:t>
            </a:r>
            <a:r>
              <a:rPr lang="en-IN" sz="2000" b="1">
                <a:latin typeface="Cambria Math"/>
              </a:rPr>
              <a:t>small/marginal farmers</a:t>
            </a:r>
            <a:r>
              <a:rPr lang="en-IN" sz="2000">
                <a:latin typeface="Cambria Math"/>
              </a:rPr>
              <a:t> in India. This leaves a gap where </a:t>
            </a:r>
            <a:r>
              <a:rPr lang="en-IN" sz="2000" b="1">
                <a:latin typeface="Cambria Math"/>
              </a:rPr>
              <a:t>data-driven decision support systems for small farmers</a:t>
            </a:r>
            <a:r>
              <a:rPr lang="en-IN" sz="2000">
                <a:latin typeface="Cambria Math"/>
              </a:rPr>
              <a:t> are missing.                                                                                                    </a:t>
            </a:r>
            <a:r>
              <a:rPr lang="en-US" sz="2000">
                <a:latin typeface="Cambria Math"/>
              </a:rPr>
              <a:t>A unified data analytics platform can address these issues by providing </a:t>
            </a:r>
            <a:r>
              <a:rPr lang="en-US" sz="2000" b="1">
                <a:latin typeface="Cambria Math"/>
              </a:rPr>
              <a:t>scientific, data-backed recommendations</a:t>
            </a:r>
            <a:r>
              <a:rPr lang="en-US" sz="2000">
                <a:latin typeface="Cambria Math"/>
              </a:rPr>
              <a:t> tailored to the needs of rural farmers.</a:t>
            </a:r>
          </a:p>
        </p:txBody>
      </p:sp>
    </p:spTree>
    <p:extLst>
      <p:ext uri="{BB962C8B-B14F-4D97-AF65-F5344CB8AC3E}">
        <p14:creationId xmlns:p14="http://schemas.microsoft.com/office/powerpoint/2010/main" val="169865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E2D4-841E-F742-61E2-473A3376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AD28E-D945-5BBA-A336-E9B218ED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247" y="638320"/>
            <a:ext cx="9600501" cy="654486"/>
          </a:xfrm>
        </p:spPr>
        <p:txBody>
          <a:bodyPr>
            <a:normAutofit/>
          </a:bodyPr>
          <a:lstStyle/>
          <a:p>
            <a:r>
              <a:rPr lang="en-US" sz="3600">
                <a:latin typeface="Cambria Math"/>
                <a:ea typeface="Calibri"/>
                <a:cs typeface="Courier New"/>
              </a:rPr>
              <a:t>                          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DE073-3863-F85B-4B7A-20A39C25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39" y="1716063"/>
            <a:ext cx="9601133" cy="48267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Symbol"/>
              <a:buChar char="•"/>
            </a:pPr>
            <a:r>
              <a:rPr lang="en-IN" sz="2000" b="1" dirty="0">
                <a:latin typeface="Cambria Math"/>
              </a:rPr>
              <a:t>Weather Data:</a:t>
            </a:r>
            <a:r>
              <a:rPr lang="en-IN" sz="2000" dirty="0">
                <a:latin typeface="Cambria Math"/>
              </a:rPr>
              <a:t> Rainfall, temperature, humidity (IMD, NASA POWER, or Kaggle datasets).</a:t>
            </a:r>
            <a:endParaRPr lang="en-US" sz="2000" dirty="0">
              <a:latin typeface="Cambria Math"/>
            </a:endParaRPr>
          </a:p>
          <a:p>
            <a:pPr marL="285750" indent="-285750">
              <a:buFont typeface="Symbol"/>
              <a:buChar char="•"/>
            </a:pPr>
            <a:r>
              <a:rPr lang="en-IN" sz="2000" b="1" dirty="0">
                <a:latin typeface="Cambria Math"/>
              </a:rPr>
              <a:t>Soil Data:</a:t>
            </a:r>
            <a:r>
              <a:rPr lang="en-IN" sz="2000" dirty="0">
                <a:latin typeface="Cambria Math"/>
              </a:rPr>
              <a:t> pH, nitrogen, phosphorus, potassium levels (ICAR, FAO soil databases).</a:t>
            </a:r>
            <a:endParaRPr lang="en-US" sz="2000" dirty="0">
              <a:latin typeface="Cambria Math"/>
            </a:endParaRPr>
          </a:p>
          <a:p>
            <a:pPr marL="285750" indent="-285750">
              <a:buFont typeface="Symbol"/>
              <a:buChar char="•"/>
            </a:pPr>
            <a:r>
              <a:rPr lang="en-IN" sz="2000" b="1" dirty="0">
                <a:latin typeface="Cambria Math"/>
              </a:rPr>
              <a:t>Crop Yield Data:</a:t>
            </a:r>
            <a:r>
              <a:rPr lang="en-IN" sz="2000" dirty="0">
                <a:latin typeface="Cambria Math"/>
              </a:rPr>
              <a:t> Govt. of India’s </a:t>
            </a:r>
            <a:r>
              <a:rPr lang="en-IN" sz="2000" i="1" dirty="0">
                <a:latin typeface="Cambria Math"/>
              </a:rPr>
              <a:t>Directorate of Economics &amp; Statistics</a:t>
            </a:r>
            <a:r>
              <a:rPr lang="en-IN" sz="2000" dirty="0">
                <a:latin typeface="Cambria Math"/>
              </a:rPr>
              <a:t> or FAOSTAT.</a:t>
            </a:r>
            <a:endParaRPr lang="en-US" sz="2000" dirty="0">
              <a:latin typeface="Cambria Math"/>
            </a:endParaRPr>
          </a:p>
          <a:p>
            <a:pPr marL="285750" indent="-285750">
              <a:buFont typeface="Symbol"/>
              <a:buChar char="•"/>
            </a:pPr>
            <a:r>
              <a:rPr lang="en-IN" sz="2000" b="1" dirty="0">
                <a:latin typeface="Cambria Math"/>
              </a:rPr>
              <a:t>Market Price Data:</a:t>
            </a:r>
            <a:r>
              <a:rPr lang="en-IN" sz="2000" dirty="0">
                <a:latin typeface="Cambria Math"/>
              </a:rPr>
              <a:t> </a:t>
            </a:r>
            <a:r>
              <a:rPr lang="en-IN" sz="2000" dirty="0" err="1">
                <a:latin typeface="Cambria Math"/>
              </a:rPr>
              <a:t>Agmarknet</a:t>
            </a:r>
            <a:r>
              <a:rPr lang="en-IN" sz="2000" dirty="0">
                <a:latin typeface="Cambria Math"/>
              </a:rPr>
              <a:t> (Govt. site for daily mandi prices).</a:t>
            </a:r>
            <a:endParaRPr lang="en-US" sz="2000" dirty="0">
              <a:latin typeface="Cambria Math"/>
            </a:endParaRPr>
          </a:p>
          <a:p>
            <a:pPr marL="285750" indent="-285750">
              <a:buFont typeface="Symbol"/>
              <a:buChar char="•"/>
            </a:pPr>
            <a:r>
              <a:rPr lang="en-IN" sz="2000" b="1" dirty="0">
                <a:latin typeface="Cambria Math"/>
              </a:rPr>
              <a:t>Agriculture Department (IIT KGP):</a:t>
            </a:r>
            <a:r>
              <a:rPr lang="en-IN" sz="2000" dirty="0">
                <a:latin typeface="Cambria Math"/>
              </a:rPr>
              <a:t> access to local datasets and surveys, </a:t>
            </a:r>
            <a:r>
              <a:rPr lang="en-US" sz="2000" dirty="0">
                <a:latin typeface="Cambria Math"/>
              </a:rPr>
              <a:t>soil test data, crop yield statistics, or experimental farm records.</a:t>
            </a:r>
          </a:p>
        </p:txBody>
      </p:sp>
    </p:spTree>
    <p:extLst>
      <p:ext uri="{BB962C8B-B14F-4D97-AF65-F5344CB8AC3E}">
        <p14:creationId xmlns:p14="http://schemas.microsoft.com/office/powerpoint/2010/main" val="316562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19E3-799F-13AC-FFD0-A6E4A5E5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FFCF-5CC2-609D-2518-16C61AD2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247" y="638320"/>
            <a:ext cx="9600501" cy="654486"/>
          </a:xfrm>
        </p:spPr>
        <p:txBody>
          <a:bodyPr>
            <a:normAutofit/>
          </a:bodyPr>
          <a:lstStyle/>
          <a:p>
            <a:r>
              <a:rPr lang="en-US" sz="3600">
                <a:latin typeface="Cambria Math"/>
                <a:ea typeface="Calibri"/>
                <a:cs typeface="Courier New"/>
              </a:rPr>
              <a:t>                     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1817-0C97-B40E-975E-C04B6E832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39" y="2005256"/>
            <a:ext cx="9601133" cy="482679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Symbol"/>
              <a:buChar char="•"/>
            </a:pPr>
            <a:r>
              <a:rPr lang="en-US" sz="2000">
                <a:latin typeface="Cambria Math"/>
              </a:rPr>
              <a:t>A structured dataset combining soil</a:t>
            </a:r>
            <a:r>
              <a:rPr lang="en-US" sz="2000" dirty="0">
                <a:latin typeface="Cambria Math"/>
              </a:rPr>
              <a:t>, </a:t>
            </a:r>
            <a:r>
              <a:rPr lang="en-US" sz="2000">
                <a:latin typeface="Cambria Math"/>
              </a:rPr>
              <a:t>weather</a:t>
            </a:r>
            <a:r>
              <a:rPr lang="en-US" sz="2000" dirty="0">
                <a:latin typeface="Cambria Math"/>
              </a:rPr>
              <a:t>, </a:t>
            </a:r>
            <a:r>
              <a:rPr lang="en-US" sz="2000">
                <a:latin typeface="Cambria Math"/>
              </a:rPr>
              <a:t>yield</a:t>
            </a:r>
            <a:r>
              <a:rPr lang="en-US" sz="2000" dirty="0">
                <a:latin typeface="Cambria Math"/>
              </a:rPr>
              <a:t>, </a:t>
            </a:r>
            <a:r>
              <a:rPr lang="en-US" sz="2000">
                <a:latin typeface="Cambria Math"/>
              </a:rPr>
              <a:t>and price information.</a:t>
            </a:r>
            <a:endParaRPr lang="en-IN" sz="2000">
              <a:latin typeface="Cambria Math"/>
            </a:endParaRPr>
          </a:p>
          <a:p>
            <a:pPr>
              <a:buFont typeface="Symbol"/>
              <a:buChar char="•"/>
            </a:pPr>
            <a:r>
              <a:rPr lang="en-US" sz="2000">
                <a:latin typeface="Cambria Math"/>
              </a:rPr>
              <a:t>Analytics models for crop recommendation</a:t>
            </a:r>
            <a:r>
              <a:rPr lang="en-US" sz="2000" dirty="0">
                <a:latin typeface="Cambria Math"/>
              </a:rPr>
              <a:t>, </a:t>
            </a:r>
            <a:r>
              <a:rPr lang="en-US" sz="2000">
                <a:latin typeface="Cambria Math"/>
              </a:rPr>
              <a:t>yield prediction</a:t>
            </a:r>
            <a:r>
              <a:rPr lang="en-US" sz="2000" dirty="0">
                <a:latin typeface="Cambria Math"/>
              </a:rPr>
              <a:t>, </a:t>
            </a:r>
            <a:r>
              <a:rPr lang="en-US" sz="2000">
                <a:latin typeface="Cambria Math"/>
              </a:rPr>
              <a:t>and price forecasting</a:t>
            </a:r>
            <a:r>
              <a:rPr lang="en-US" sz="2000" dirty="0">
                <a:latin typeface="Cambria Math"/>
              </a:rPr>
              <a:t>.</a:t>
            </a:r>
          </a:p>
          <a:p>
            <a:pPr>
              <a:buFont typeface="Symbol"/>
              <a:buChar char="•"/>
            </a:pPr>
            <a:r>
              <a:rPr lang="en-US" sz="2000">
                <a:latin typeface="Cambria Math"/>
              </a:rPr>
              <a:t>A functional dashboard prototype for decision support</a:t>
            </a:r>
            <a:r>
              <a:rPr lang="en-US" sz="2000" dirty="0">
                <a:latin typeface="Cambria Math"/>
              </a:rPr>
              <a:t>.</a:t>
            </a:r>
          </a:p>
          <a:p>
            <a:pPr>
              <a:buFont typeface="Symbol"/>
              <a:buChar char="•"/>
            </a:pPr>
            <a:r>
              <a:rPr lang="en-US" sz="2000">
                <a:latin typeface="Cambria Math"/>
              </a:rPr>
              <a:t>Potential academic value </a:t>
            </a:r>
            <a:r>
              <a:rPr lang="en-US" sz="2000" dirty="0">
                <a:latin typeface="Cambria Math"/>
              </a:rPr>
              <a:t>(</a:t>
            </a:r>
            <a:r>
              <a:rPr lang="en-US" sz="2000">
                <a:latin typeface="Cambria Math"/>
              </a:rPr>
              <a:t>publication in data science/agriculture conferences</a:t>
            </a:r>
            <a:r>
              <a:rPr lang="en-US" sz="2000" dirty="0">
                <a:latin typeface="Cambria Math"/>
              </a:rPr>
              <a:t>).</a:t>
            </a:r>
          </a:p>
          <a:p>
            <a:pPr>
              <a:buFont typeface="Symbol"/>
              <a:buChar char="•"/>
            </a:pPr>
            <a:r>
              <a:rPr lang="en-US" sz="2000">
                <a:latin typeface="Cambria Math"/>
              </a:rPr>
              <a:t>Real-world impact by supporting rural farmers</a:t>
            </a:r>
            <a:r>
              <a:rPr lang="en-US" sz="2000" dirty="0">
                <a:latin typeface="Cambria Math"/>
              </a:rPr>
              <a:t>.</a:t>
            </a:r>
            <a:endParaRPr lang="en-IN" sz="2000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7057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73D9-9A6C-67B8-082A-301DE00E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316" y="266256"/>
            <a:ext cx="9882264" cy="11764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mbria Math"/>
                <a:ea typeface="Cambria Math"/>
              </a:rPr>
              <a:t>     ACCURACY </a:t>
            </a:r>
            <a:r>
              <a:rPr lang="en-US" sz="3600">
                <a:latin typeface="Cambria Math"/>
                <a:ea typeface="Cambria Math"/>
              </a:rPr>
              <a:t>COMPARISION</a:t>
            </a:r>
            <a:r>
              <a:rPr lang="en-US" sz="3600" dirty="0">
                <a:latin typeface="Cambria Math"/>
                <a:ea typeface="Cambria Math"/>
              </a:rPr>
              <a:t> OF DIFFERENT </a:t>
            </a:r>
            <a:br>
              <a:rPr lang="en-US" sz="3600" dirty="0">
                <a:latin typeface="Cambria Math"/>
                <a:ea typeface="Cambria Math"/>
              </a:rPr>
            </a:br>
            <a:r>
              <a:rPr lang="en-US" sz="3600" dirty="0">
                <a:latin typeface="Cambria Math"/>
                <a:ea typeface="Cambria Math"/>
              </a:rPr>
              <a:t>                            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EDCEDA-F041-7645-E2A1-594925F9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7" descr="A bar graph with different colored stripes&#10;&#10;AI-generated content may be incorrect.">
            <a:extLst>
              <a:ext uri="{FF2B5EF4-FFF2-40B4-BE49-F238E27FC236}">
                <a16:creationId xmlns:a16="http://schemas.microsoft.com/office/drawing/2014/main" id="{B04DF3A1-06E8-B528-6CBB-127A2C414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029" y="1431876"/>
            <a:ext cx="9726013" cy="539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5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0253-4DC5-C3AB-75DF-446B1F3B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704857" cy="1447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mbria Math"/>
                <a:ea typeface="Cambria Math"/>
                <a:cs typeface="Times New Roman"/>
              </a:rPr>
              <a:t>                   </a:t>
            </a:r>
            <a:r>
              <a:rPr lang="en-US" sz="3600">
                <a:latin typeface="Cambria Math"/>
                <a:ea typeface="Cambria Math"/>
                <a:cs typeface="Times New Roman"/>
              </a:rPr>
              <a:t>    </a:t>
            </a:r>
            <a:r>
              <a:rPr lang="en-US" sz="3600" dirty="0">
                <a:latin typeface="Cambria Math"/>
                <a:ea typeface="Cambria Math"/>
                <a:cs typeface="Times New Roman"/>
              </a:rPr>
              <a:t>OUTPUT PREDICTION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CA6D8A-D850-B505-E204-CC05D096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E2F23EF-87B1-E61B-F625-D96E27F38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104" y="1713127"/>
            <a:ext cx="8484171" cy="424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3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FAB7-6866-3812-631A-E2F761D8C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833282"/>
            <a:ext cx="10287000" cy="1889829"/>
          </a:xfrm>
        </p:spPr>
        <p:txBody>
          <a:bodyPr/>
          <a:lstStyle/>
          <a:p>
            <a:r>
              <a:rPr lang="en-US" dirty="0"/>
              <a:t>             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478D5-27C1-4BCE-C4D9-5DD34F578B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4576655"/>
            <a:ext cx="10287000" cy="1557445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237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Custom</vt:lpstr>
      <vt:lpstr>                     Department of Computer Science and Engineering                                                   IIT KHARAGPUR</vt:lpstr>
      <vt:lpstr>                       PROBLEM STATEMENT</vt:lpstr>
      <vt:lpstr>                            DATA SOURCES</vt:lpstr>
      <vt:lpstr>                      EXPECTED OUTCOMES</vt:lpstr>
      <vt:lpstr>     ACCURACY COMPARISION OF DIFFERENT                               ALGORITHMS</vt:lpstr>
      <vt:lpstr>                       OUTPUT PREDICTION</vt:lpstr>
      <vt:lpstr>             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318</cp:revision>
  <dcterms:created xsi:type="dcterms:W3CDTF">2025-08-28T14:24:30Z</dcterms:created>
  <dcterms:modified xsi:type="dcterms:W3CDTF">2025-10-22T07:50:22Z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